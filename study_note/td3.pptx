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DE489-EA52-7F20-E419-0B34F227A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166F6B-D3F4-D110-08D6-9E1DB53E8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296677-0B8D-C596-2C19-DECB1124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2739-8967-4787-B4D5-370A8EAACB4A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09F710-91A1-44EF-0532-46124F70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32A11-C569-0A64-3A47-C4205C5F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A7A40-06E6-444A-BA30-6606C3256F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542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CA440-32C7-3662-A618-5000BD16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068ACE-4A75-8C0F-B567-5905C0DB5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04ECEB-942A-73D4-BB87-DD9F26F3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2739-8967-4787-B4D5-370A8EAACB4A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0FC1E-FF29-6BE4-1CBE-442D77B1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A96EBE-432C-C219-5C8E-E227719E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A7A40-06E6-444A-BA30-6606C3256F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207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288E7-039C-8427-84BD-F57835E68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6027C8-6D62-5164-BD79-6E64D75A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B62569-0918-9F40-C38D-8D82753FA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2739-8967-4787-B4D5-370A8EAACB4A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21BDBE-48D5-501A-9D55-C24D854CF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AA69BB-F7CA-85FA-9F6E-CFBF88D7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A7A40-06E6-444A-BA30-6606C3256F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40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11540-2D3E-D0A4-B161-8EF119E5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BCB742-B526-DB62-C197-C84CA579F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C1A8DB-9EC2-9DFB-3135-AF57F4F68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7CFE01-BB08-A160-509B-0D51FA392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2739-8967-4787-B4D5-370A8EAACB4A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70CCFD-1E30-28D2-9E09-8D2157EC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3AB14C-20AF-0747-49BE-04CB82502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A7A40-06E6-444A-BA30-6606C3256F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19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DF629-0042-877B-8440-4E05315C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1BC15D-FC15-A9A9-F900-84A5A3A9D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D055C6-1712-C482-EDD6-DF87C14FE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3A82A8-320F-D890-48C7-6F545FF57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3037F1-CA64-316A-2C84-FE43DFE5DD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AA2C6C-D36B-5CC9-2023-AEECFFE34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2739-8967-4787-B4D5-370A8EAACB4A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4F5A73-D44E-3110-110D-113D6C973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D56BB12-CF36-5411-0674-3A41905E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A7A40-06E6-444A-BA30-6606C3256F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572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53BF7-DD03-B81B-E0BD-AFB8D3EF7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94B50C-D091-D2E3-C9A6-E5A84E449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2739-8967-4787-B4D5-370A8EAACB4A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F16EC6-6B58-F094-66FA-0ED58F64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80FFBB-257A-8287-4201-0F2EC0ED9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A7A40-06E6-444A-BA30-6606C3256F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874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59C472-0CFD-BB78-A218-96A795B9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2739-8967-4787-B4D5-370A8EAACB4A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C04D12-B4F6-C19B-0965-9241764A0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C78D1E-4AAF-9927-5FFB-9BECB6089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A7A40-06E6-444A-BA30-6606C3256F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12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575FD-DFFA-36E5-E482-D8EDDE82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88192A-73CB-3EB6-DD26-4431C2713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BFDA01-C840-1F87-A1C9-5E9E68791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F3836A-CA70-EAFC-5F63-E5E77241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2739-8967-4787-B4D5-370A8EAACB4A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2DF8D9-8472-20A0-97E7-6B01E3B0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360DF3-F820-827A-26CD-E1097E67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A7A40-06E6-444A-BA30-6606C3256F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834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9383D-8130-2982-29ED-EAE5B7AF3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AD07DC-0297-0D49-5919-F116ABC293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E619BA-0887-901A-783F-737E93101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7618D0-55B6-12CF-BEF3-BBE2AEE6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2739-8967-4787-B4D5-370A8EAACB4A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F8CD2E-C11D-CA4E-0E46-A27C66741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D9BA10-F446-152D-DB59-72DAE201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A7A40-06E6-444A-BA30-6606C3256F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547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5B6AE-66BD-6E4C-08AE-BC244EAF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D7F94B-1E50-4046-4BE9-8DE8873B9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5D5A4-481C-AC06-7D53-A50CDC54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2739-8967-4787-B4D5-370A8EAACB4A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3E4352-431E-BD77-2536-6C220ED7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9460E-AE32-EEA3-0BBE-68A7A8A3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A7A40-06E6-444A-BA30-6606C3256F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69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E51576-0FD4-6BDE-F80A-766D0D093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4CDE7B-3F76-914D-FA3B-E6AD5D152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C58E45-2B35-01B8-3AAF-62483138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12739-8967-4787-B4D5-370A8EAACB4A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6AE064-272C-0C28-25D7-B5279837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5048E8-8415-65CA-89CF-7F1F0145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A7A40-06E6-444A-BA30-6606C3256F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61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803B6B-B21E-FF61-AF29-86CDFAE7B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E6C7FA-3D6A-A946-0451-14AF05A26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267EB1-7DE7-F029-3CD6-691EF7743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12739-8967-4787-B4D5-370A8EAACB4A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3CADEA-A873-46CD-9C70-58624740D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EF66F5-305D-2371-51D1-A8A648F0B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3A7A40-06E6-444A-BA30-6606C3256F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271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77FFD4F-81F0-5E03-5C64-3E019BF6C22E}"/>
              </a:ext>
            </a:extLst>
          </p:cNvPr>
          <p:cNvSpPr/>
          <p:nvPr/>
        </p:nvSpPr>
        <p:spPr>
          <a:xfrm>
            <a:off x="1502978" y="1242192"/>
            <a:ext cx="1849821" cy="998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ac_main</a:t>
            </a:r>
            <a:r>
              <a:rPr lang="zh-CN" altLang="en-US" dirty="0"/>
              <a:t>主网络，参数直接更新，训练网络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E5CA18-F95C-0A6C-B0DA-9403205826C8}"/>
              </a:ext>
            </a:extLst>
          </p:cNvPr>
          <p:cNvSpPr/>
          <p:nvPr/>
        </p:nvSpPr>
        <p:spPr>
          <a:xfrm>
            <a:off x="4855778" y="1229710"/>
            <a:ext cx="2380400" cy="1010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ac_target</a:t>
            </a:r>
            <a:r>
              <a:rPr lang="zh-CN" altLang="en-US" dirty="0"/>
              <a:t>备用网络，参数只可以通过主网络更新，参考网络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A39E1D-1E0E-1525-C5B3-C1CFDDF7903D}"/>
              </a:ext>
            </a:extLst>
          </p:cNvPr>
          <p:cNvSpPr/>
          <p:nvPr/>
        </p:nvSpPr>
        <p:spPr>
          <a:xfrm>
            <a:off x="1061545" y="2827283"/>
            <a:ext cx="2732689" cy="72521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ac_m.q1(</a:t>
            </a:r>
            <a:r>
              <a:rPr lang="en-US" altLang="zh-CN" dirty="0" err="1"/>
              <a:t>state,action</a:t>
            </a:r>
            <a:r>
              <a:rPr lang="en-US" altLang="zh-CN" dirty="0"/>
              <a:t>)-&gt;Q</a:t>
            </a:r>
          </a:p>
          <a:p>
            <a:pPr algn="ctr"/>
            <a:r>
              <a:rPr lang="zh-CN" altLang="en-US" dirty="0"/>
              <a:t>价值网络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FBEBD3-1BA0-BCAF-60BE-C0C9642E1070}"/>
              </a:ext>
            </a:extLst>
          </p:cNvPr>
          <p:cNvSpPr/>
          <p:nvPr/>
        </p:nvSpPr>
        <p:spPr>
          <a:xfrm>
            <a:off x="1072055" y="3727231"/>
            <a:ext cx="2732689" cy="6017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ac_m.q2(</a:t>
            </a:r>
            <a:r>
              <a:rPr lang="en-US" altLang="zh-CN" dirty="0" err="1"/>
              <a:t>state,action</a:t>
            </a:r>
            <a:r>
              <a:rPr lang="en-US" altLang="zh-CN" dirty="0"/>
              <a:t>)-&gt;Q</a:t>
            </a:r>
          </a:p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44741D-7FCB-70EA-C36A-64A8E87621F7}"/>
              </a:ext>
            </a:extLst>
          </p:cNvPr>
          <p:cNvSpPr/>
          <p:nvPr/>
        </p:nvSpPr>
        <p:spPr>
          <a:xfrm>
            <a:off x="1072055" y="4650827"/>
            <a:ext cx="2732689" cy="6017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ac_m.a</a:t>
            </a:r>
            <a:r>
              <a:rPr lang="en-US" altLang="zh-CN" dirty="0"/>
              <a:t>(state)-&gt;</a:t>
            </a:r>
            <a:r>
              <a:rPr lang="en-US" altLang="zh-CN" dirty="0" err="1"/>
              <a:t>Acion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FEC3C6-F36D-CC56-A2A2-C614DF3C2BD0}"/>
              </a:ext>
            </a:extLst>
          </p:cNvPr>
          <p:cNvSpPr/>
          <p:nvPr/>
        </p:nvSpPr>
        <p:spPr>
          <a:xfrm>
            <a:off x="4624552" y="2827283"/>
            <a:ext cx="3121572" cy="72521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ac_tar.q1(</a:t>
            </a:r>
            <a:r>
              <a:rPr lang="en-US" altLang="zh-CN" dirty="0" err="1"/>
              <a:t>state,action</a:t>
            </a:r>
            <a:r>
              <a:rPr lang="en-US" altLang="zh-CN" dirty="0"/>
              <a:t>)-&gt;Q</a:t>
            </a:r>
          </a:p>
          <a:p>
            <a:pPr algn="ctr"/>
            <a:r>
              <a:rPr lang="zh-CN" altLang="en-US" dirty="0"/>
              <a:t>价值网络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C268A-521D-3936-3ACC-8841B3CB3689}"/>
              </a:ext>
            </a:extLst>
          </p:cNvPr>
          <p:cNvSpPr/>
          <p:nvPr/>
        </p:nvSpPr>
        <p:spPr>
          <a:xfrm>
            <a:off x="4635062" y="3727231"/>
            <a:ext cx="3037490" cy="6017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ac_tar.q2(</a:t>
            </a:r>
            <a:r>
              <a:rPr lang="en-US" altLang="zh-CN" dirty="0" err="1"/>
              <a:t>state,action</a:t>
            </a:r>
            <a:r>
              <a:rPr lang="en-US" altLang="zh-CN" dirty="0"/>
              <a:t>)-&gt;Q</a:t>
            </a:r>
          </a:p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18C0CD-5B6B-A730-9FC6-5687BDB44AE7}"/>
              </a:ext>
            </a:extLst>
          </p:cNvPr>
          <p:cNvSpPr/>
          <p:nvPr/>
        </p:nvSpPr>
        <p:spPr>
          <a:xfrm>
            <a:off x="4635062" y="4650827"/>
            <a:ext cx="3111062" cy="6017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ac_tar.a</a:t>
            </a:r>
            <a:r>
              <a:rPr lang="en-US" altLang="zh-CN" dirty="0"/>
              <a:t>(state)-&gt;</a:t>
            </a:r>
            <a:r>
              <a:rPr lang="en-US" altLang="zh-CN" dirty="0" err="1"/>
              <a:t>Acion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785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B94EF39-8A6B-6198-3E23-E901F020B7CC}"/>
                  </a:ext>
                </a:extLst>
              </p:cNvPr>
              <p:cNvSpPr txBox="1"/>
              <p:nvPr/>
            </p:nvSpPr>
            <p:spPr>
              <a:xfrm>
                <a:off x="417689" y="1090978"/>
                <a:ext cx="8997243" cy="2897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i="0" dirty="0">
                    <a:effectLst/>
                    <a:latin typeface="Inter"/>
                  </a:rPr>
                  <a:t>第一阶段：</a:t>
                </a:r>
                <a:r>
                  <a:rPr lang="en-US" altLang="zh-CN" b="1" dirty="0"/>
                  <a:t>Interaction</a:t>
                </a:r>
              </a:p>
              <a:p>
                <a:r>
                  <a:rPr lang="zh-CN" altLang="en-US" b="1" dirty="0"/>
                  <a:t>目的</a:t>
                </a:r>
                <a:r>
                  <a:rPr lang="zh-CN" altLang="en-US" dirty="0"/>
                  <a:t>：积累经验，把数据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/>
                        </m:ctrlPr>
                      </m:dPr>
                      <m:e>
                        <m:r>
                          <a:rPr lang="zh-CN" altLang="ar-AE" i="1"/>
                          <m:t>𝑆</m:t>
                        </m:r>
                      </m:e>
                      <m:e>
                        <m:r>
                          <a:rPr lang="zh-CN" altLang="ar-AE" i="1"/>
                          <m:t>𝐴</m:t>
                        </m:r>
                      </m:e>
                      <m:e>
                        <m:r>
                          <a:rPr lang="zh-CN" altLang="ar-AE" i="1"/>
                          <m:t>𝑅</m:t>
                        </m:r>
                      </m:e>
                      <m:e>
                        <m:sSup>
                          <m:sSupPr>
                            <m:ctrlPr>
                              <a:rPr lang="ar-AE" altLang="zh-CN" i="1"/>
                            </m:ctrlPr>
                          </m:sSupPr>
                          <m:e>
                            <m:r>
                              <a:rPr lang="zh-CN" altLang="ar-AE" i="1"/>
                              <m:t>𝑆</m:t>
                            </m:r>
                          </m:e>
                          <m:sup>
                            <m:r>
                              <a:rPr lang="ar-AE" altLang="zh-CN"/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填进回放池。</a:t>
                </a:r>
                <a:endParaRPr lang="en-US" altLang="zh-CN" dirty="0"/>
              </a:p>
              <a:p>
                <a:r>
                  <a:rPr lang="zh-CN" altLang="en-US" b="1" dirty="0"/>
                  <a:t>参与者</a:t>
                </a:r>
                <a:r>
                  <a:rPr lang="en-US" altLang="zh-CN" b="1" dirty="0"/>
                  <a:t>:</a:t>
                </a:r>
                <a:r>
                  <a:rPr lang="en-US" altLang="zh-CN" dirty="0" err="1"/>
                  <a:t>ac_main.a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Environment</a:t>
                </a:r>
                <a:r>
                  <a:rPr lang="zh-CN" altLang="en-US" dirty="0"/>
                  <a:t>（物理引擎）、</a:t>
                </a:r>
                <a:r>
                  <a:rPr lang="en-US" altLang="zh-CN" dirty="0"/>
                  <a:t>Memory</a:t>
                </a:r>
                <a:r>
                  <a:rPr lang="zh-CN" altLang="en-US" dirty="0"/>
                  <a:t>（日记本）。</a:t>
                </a:r>
                <a:endParaRPr lang="en-US" altLang="zh-CN" dirty="0"/>
              </a:p>
              <a:p>
                <a:r>
                  <a:rPr lang="en-US" altLang="zh-CN" b="1" dirty="0"/>
                  <a:t>1.ac_main(</a:t>
                </a:r>
                <a:r>
                  <a:rPr lang="en-US" altLang="zh-CN" b="1" dirty="0" err="1"/>
                  <a:t>state_from_file</a:t>
                </a:r>
                <a:r>
                  <a:rPr lang="en-US" altLang="zh-CN" b="1" dirty="0"/>
                  <a:t>)-&gt;action</a:t>
                </a:r>
              </a:p>
              <a:p>
                <a:r>
                  <a:rPr lang="en-US" altLang="zh-CN" b="1" dirty="0"/>
                  <a:t>2.env(action, </a:t>
                </a:r>
                <a:r>
                  <a:rPr lang="en-US" altLang="zh-CN" b="1" dirty="0" err="1"/>
                  <a:t>state_from_file</a:t>
                </a:r>
                <a:r>
                  <a:rPr lang="en-US" altLang="zh-CN" b="1" dirty="0"/>
                  <a:t>)-&gt;(</a:t>
                </a:r>
                <a:r>
                  <a:rPr lang="en-US" altLang="zh-CN" b="1" dirty="0" err="1"/>
                  <a:t>reware,state</a:t>
                </a:r>
                <a:r>
                  <a:rPr lang="en-US" altLang="zh-CN" b="1" dirty="0"/>
                  <a:t>’)</a:t>
                </a:r>
              </a:p>
              <a:p>
                <a:r>
                  <a:rPr lang="en-US" altLang="zh-CN" b="1" dirty="0"/>
                  <a:t>3.mempry(</a:t>
                </a:r>
                <a:r>
                  <a:rPr lang="en-US" altLang="zh-CN" b="1" dirty="0" err="1"/>
                  <a:t>state_from_file,action,reward,state</a:t>
                </a:r>
                <a:r>
                  <a:rPr lang="en-US" altLang="zh-CN" b="1" dirty="0"/>
                  <a:t>’)</a:t>
                </a:r>
              </a:p>
              <a:p>
                <a:r>
                  <a:rPr lang="zh-CN" altLang="en-US" b="1" dirty="0"/>
                  <a:t>此后</a:t>
                </a:r>
                <a:endParaRPr lang="en-US" altLang="zh-CN" b="1" dirty="0"/>
              </a:p>
              <a:p>
                <a:r>
                  <a:rPr lang="en-US" altLang="zh-CN" b="1" dirty="0"/>
                  <a:t>a.</a:t>
                </a:r>
                <a:r>
                  <a:rPr lang="zh-CN" altLang="en-US" b="1" dirty="0"/>
                  <a:t>把</a:t>
                </a:r>
                <a:r>
                  <a:rPr lang="en-US" altLang="zh-CN" b="1" dirty="0"/>
                  <a:t>state’</a:t>
                </a:r>
                <a:r>
                  <a:rPr lang="zh-CN" altLang="en-US" b="1" dirty="0"/>
                  <a:t>当做起点，接着生成。</a:t>
                </a:r>
                <a:endParaRPr lang="en-US" altLang="zh-CN" b="1" dirty="0"/>
              </a:p>
              <a:p>
                <a:r>
                  <a:rPr lang="en-US" altLang="zh-CN" b="1" dirty="0"/>
                  <a:t>b.</a:t>
                </a:r>
                <a:r>
                  <a:rPr lang="zh-CN" altLang="en-US" b="1" dirty="0"/>
                  <a:t>把初始</a:t>
                </a:r>
                <a:r>
                  <a:rPr lang="en-US" altLang="zh-CN" b="1" dirty="0" err="1"/>
                  <a:t>state_from_file</a:t>
                </a:r>
                <a:r>
                  <a:rPr lang="zh-CN" altLang="en-US" b="1" dirty="0"/>
                  <a:t>变换，接着生成</a:t>
                </a:r>
                <a:endParaRPr lang="en-US" altLang="zh-CN" b="1" dirty="0"/>
              </a:p>
              <a:p>
                <a:r>
                  <a:rPr lang="en-US" altLang="zh-CN" i="1" dirty="0"/>
                  <a:t>(</a:t>
                </a:r>
                <a:r>
                  <a:rPr lang="zh-CN" altLang="en-US" i="1" dirty="0"/>
                  <a:t>这个过程不断循环，直到攒够了数据，开始训练</a:t>
                </a:r>
                <a:r>
                  <a:rPr lang="en-US" altLang="zh-CN" i="1" dirty="0"/>
                  <a:t>)</a:t>
                </a:r>
                <a:endParaRPr lang="en-US" altLang="zh-CN" b="1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B94EF39-8A6B-6198-3E23-E901F020B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89" y="1090978"/>
                <a:ext cx="8997243" cy="2897973"/>
              </a:xfrm>
              <a:prstGeom prst="rect">
                <a:avLst/>
              </a:prstGeom>
              <a:blipFill>
                <a:blip r:embed="rId2"/>
                <a:stretch>
                  <a:fillRect l="-610" t="-1263" b="-2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65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40CDD-3A37-0D98-8970-73F130478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7156614-1B7C-CB91-57B0-ED7467D1A39A}"/>
                  </a:ext>
                </a:extLst>
              </p:cNvPr>
              <p:cNvSpPr txBox="1"/>
              <p:nvPr/>
            </p:nvSpPr>
            <p:spPr>
              <a:xfrm>
                <a:off x="237067" y="244312"/>
                <a:ext cx="8997243" cy="62517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i="0" dirty="0">
                    <a:effectLst/>
                    <a:latin typeface="Inter"/>
                  </a:rPr>
                  <a:t>第二阶段：</a:t>
                </a:r>
                <a:r>
                  <a:rPr lang="en-US" altLang="zh-CN" b="1" dirty="0"/>
                  <a:t> Training / Update</a:t>
                </a:r>
              </a:p>
              <a:p>
                <a:r>
                  <a:rPr lang="zh-CN" altLang="en-US" b="1" dirty="0"/>
                  <a:t>目的</a:t>
                </a:r>
                <a:r>
                  <a:rPr lang="zh-CN" altLang="en-US" dirty="0"/>
                  <a:t>：利用 </a:t>
                </a:r>
                <a:r>
                  <a:rPr lang="en-US" altLang="zh-CN" dirty="0"/>
                  <a:t>Memory </a:t>
                </a:r>
                <a:r>
                  <a:rPr lang="zh-CN" altLang="en-US" dirty="0"/>
                  <a:t>里的旧数据，更新 </a:t>
                </a:r>
                <a:r>
                  <a:rPr lang="en-US" altLang="zh-CN" dirty="0"/>
                  <a:t>Main</a:t>
                </a:r>
                <a:r>
                  <a:rPr lang="zh-CN" altLang="en-US" dirty="0"/>
                  <a:t>网络，并同步给 </a:t>
                </a:r>
                <a:r>
                  <a:rPr lang="en-US" altLang="zh-CN" dirty="0"/>
                  <a:t>Target</a:t>
                </a:r>
                <a:r>
                  <a:rPr lang="zh-CN" altLang="en-US" dirty="0"/>
                  <a:t>。 </a:t>
                </a:r>
                <a:endParaRPr lang="en-US" altLang="zh-CN" dirty="0"/>
              </a:p>
              <a:p>
                <a:r>
                  <a:rPr lang="zh-CN" altLang="en-US" b="1" dirty="0"/>
                  <a:t>参与者</a:t>
                </a:r>
                <a:r>
                  <a:rPr lang="en-US" altLang="zh-CN" b="1" dirty="0"/>
                  <a:t>:</a:t>
                </a:r>
                <a:r>
                  <a:rPr lang="zh-CN" altLang="en-US" b="1" dirty="0"/>
                  <a:t>两套网络</a:t>
                </a:r>
                <a:r>
                  <a:rPr lang="en-US" altLang="zh-CN" b="1" dirty="0"/>
                  <a:t>+</a:t>
                </a:r>
                <a:r>
                  <a:rPr lang="zh-CN" altLang="en-US" b="1" dirty="0"/>
                  <a:t>两个优化器</a:t>
                </a:r>
                <a:r>
                  <a:rPr lang="en-US" altLang="zh-CN" b="1" dirty="0"/>
                  <a:t>+memory</a:t>
                </a:r>
              </a:p>
              <a:p>
                <a:r>
                  <a:rPr lang="zh-CN" altLang="en-US" b="1" dirty="0"/>
                  <a:t>从</a:t>
                </a:r>
                <a:r>
                  <a:rPr lang="en-US" altLang="zh-CN" b="1" dirty="0"/>
                  <a:t>memory</a:t>
                </a:r>
                <a:r>
                  <a:rPr lang="zh-CN" altLang="en-US" b="1" dirty="0"/>
                  <a:t>抽出一批数据</a:t>
                </a:r>
                <a:r>
                  <a:rPr lang="zh-CN" altLang="ar-AE" dirty="0"/>
                  <a:t>：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/>
                        </m:ctrlPr>
                      </m:dPr>
                      <m:e>
                        <m:r>
                          <a:rPr lang="zh-CN" altLang="ar-AE" i="1"/>
                          <m:t>𝑆</m:t>
                        </m:r>
                      </m:e>
                      <m:e>
                        <m:r>
                          <a:rPr lang="zh-CN" altLang="ar-AE" i="1"/>
                          <m:t>𝐴</m:t>
                        </m:r>
                      </m:e>
                      <m:e>
                        <m:r>
                          <a:rPr lang="zh-CN" altLang="ar-AE" i="1"/>
                          <m:t>𝑅</m:t>
                        </m:r>
                      </m:e>
                      <m:e>
                        <m:sSup>
                          <m:sSupPr>
                            <m:ctrlPr>
                              <a:rPr lang="ar-AE" altLang="zh-CN" i="1"/>
                            </m:ctrlPr>
                          </m:sSupPr>
                          <m:e>
                            <m:r>
                              <a:rPr lang="zh-CN" altLang="ar-AE" i="1"/>
                              <m:t>𝑆</m:t>
                            </m:r>
                          </m:e>
                          <m:sup>
                            <m:r>
                              <a:rPr lang="ar-AE" altLang="zh-CN"/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b="1" dirty="0"/>
                  <a:t>1.</a:t>
                </a:r>
                <a:r>
                  <a:rPr lang="zh-CN" altLang="en-US" b="1" dirty="0"/>
                  <a:t>制定“标准答案”（</a:t>
                </a:r>
                <a:r>
                  <a:rPr lang="en-US" altLang="zh-CN" b="1" dirty="0"/>
                  <a:t>target q calculation</a:t>
                </a:r>
                <a:r>
                  <a:rPr lang="zh-CN" altLang="en-US" b="1" dirty="0"/>
                  <a:t>）</a:t>
                </a:r>
                <a:r>
                  <a:rPr lang="en-US" altLang="zh-CN" b="1" dirty="0"/>
                  <a:t>target </a:t>
                </a:r>
                <a:r>
                  <a:rPr lang="zh-CN" altLang="en-US" b="1" dirty="0"/>
                  <a:t>网络打分</a:t>
                </a:r>
                <a:r>
                  <a:rPr lang="en-US" altLang="zh-CN" b="1" dirty="0"/>
                  <a:t>s</a:t>
                </a:r>
                <a:r>
                  <a:rPr lang="zh-CN" altLang="en-US" b="1" dirty="0"/>
                  <a:t>‘的价值</a:t>
                </a:r>
                <a:endParaRPr lang="en-US" altLang="zh-CN" b="1" dirty="0"/>
              </a:p>
              <a:p>
                <a:r>
                  <a:rPr lang="en-US" altLang="zh-CN" b="1" dirty="0"/>
                  <a:t>   a.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ac_tar.a</a:t>
                </a:r>
                <a:r>
                  <a:rPr lang="en-US" altLang="zh-CN" dirty="0"/>
                  <a:t>(state’)-&gt;action’</a:t>
                </a:r>
              </a:p>
              <a:p>
                <a:r>
                  <a:rPr lang="en-US" altLang="zh-CN" dirty="0"/>
                  <a:t>   b.ac_tar.q1(</a:t>
                </a:r>
                <a:r>
                  <a:rPr lang="en-US" altLang="zh-CN" dirty="0" err="1"/>
                  <a:t>state’,action</a:t>
                </a:r>
                <a:r>
                  <a:rPr lang="en-US" altLang="zh-CN" dirty="0"/>
                  <a:t>’), ac_tar.q2(</a:t>
                </a:r>
                <a:r>
                  <a:rPr lang="en-US" altLang="zh-CN" dirty="0" err="1"/>
                  <a:t>state’,action</a:t>
                </a:r>
                <a:r>
                  <a:rPr lang="en-US" altLang="zh-CN" dirty="0"/>
                  <a:t>’) →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bSup>
                  </m:oMath>
                </a14:m>
                <a:r>
                  <a:rPr lang="en-US" altLang="zh-CN" b="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r>
                  <a:rPr lang="en-US" altLang="zh-CN" dirty="0"/>
                  <a:t>   </a:t>
                </a:r>
                <a:r>
                  <a:rPr lang="en-US" altLang="zh-CN" dirty="0" err="1"/>
                  <a:t>c.Y</a:t>
                </a:r>
                <a:r>
                  <a:rPr lang="en-US" altLang="zh-CN" dirty="0"/>
                  <a:t>=R+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*</m:t>
                    </m:r>
                  </m:oMath>
                </a14:m>
                <a:r>
                  <a:rPr lang="en-US" altLang="zh-CN" dirty="0"/>
                  <a:t>min(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bSup>
                  </m:oMath>
                </a14:m>
                <a:r>
                  <a:rPr lang="en-US" altLang="zh-CN" b="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dirty="0"/>
              </a:p>
              <a:p>
                <a:r>
                  <a:rPr lang="en-US" altLang="zh-CN" dirty="0"/>
                  <a:t>2.</a:t>
                </a:r>
                <a:r>
                  <a:rPr lang="en-US" altLang="zh-CN" b="1" dirty="0"/>
                  <a:t> Critic Update  main</a:t>
                </a:r>
                <a:r>
                  <a:rPr lang="zh-CN" altLang="en-US" b="1" dirty="0"/>
                  <a:t>网络训练打分</a:t>
                </a:r>
                <a:r>
                  <a:rPr lang="en-US" altLang="zh-CN" b="1" dirty="0"/>
                  <a:t>(</a:t>
                </a:r>
                <a:r>
                  <a:rPr lang="zh-CN" altLang="en-US" b="1" dirty="0"/>
                  <a:t>为了让打分更准</a:t>
                </a:r>
                <a:r>
                  <a:rPr lang="en-US" altLang="zh-CN" b="1" dirty="0"/>
                  <a:t>)</a:t>
                </a:r>
              </a:p>
              <a:p>
                <a:r>
                  <a:rPr lang="en-US" altLang="zh-CN" dirty="0"/>
                  <a:t>    a. ac.q1(</a:t>
                </a:r>
                <a:r>
                  <a:rPr lang="en-US" altLang="zh-CN" dirty="0" err="1"/>
                  <a:t>state,action</a:t>
                </a:r>
                <a:r>
                  <a:rPr lang="en-US" altLang="zh-CN" dirty="0"/>
                  <a:t>) ,ac.q2(</a:t>
                </a:r>
                <a:r>
                  <a:rPr lang="en-US" altLang="zh-CN" dirty="0" err="1"/>
                  <a:t>state,action</a:t>
                </a:r>
                <a:r>
                  <a:rPr lang="en-US" altLang="zh-CN" dirty="0"/>
                  <a:t>) -&gt;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𝑚𝑎𝑖𝑛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𝑚𝑎𝑖𝑛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r>
                  <a:rPr lang="en-US" altLang="zh-CN" dirty="0"/>
                  <a:t>    b.loss_1,loss_2 = </a:t>
                </a:r>
                <a:r>
                  <a:rPr lang="en-US" altLang="zh-CN" dirty="0" err="1"/>
                  <a:t>mse</a:t>
                </a:r>
                <a:r>
                  <a:rPr lang="en-US" altLang="zh-CN" dirty="0"/>
                  <a:t>(Y,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𝑚𝑎𝑖𝑛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, </a:t>
                </a:r>
                <a:r>
                  <a:rPr lang="en-US" altLang="zh-CN" dirty="0"/>
                  <a:t>mse(Y,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𝑚𝑎𝑖𝑛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,</a:t>
                </a:r>
              </a:p>
              <a:p>
                <a:r>
                  <a:rPr lang="en-US" altLang="zh-CN" dirty="0"/>
                  <a:t>     c.</a:t>
                </a:r>
                <a:r>
                  <a:rPr lang="en-US" altLang="zh-CN" b="1" dirty="0"/>
                  <a:t> </a:t>
                </a:r>
                <a:r>
                  <a:rPr lang="en-US" altLang="zh-CN" b="1" dirty="0" err="1"/>
                  <a:t>q_optimizer</a:t>
                </a:r>
                <a:r>
                  <a:rPr lang="en-US" altLang="zh-CN" b="1" dirty="0"/>
                  <a:t>(ac.q1,</a:t>
                </a:r>
                <a:r>
                  <a:rPr lang="en-US" altLang="zh-CN" dirty="0"/>
                  <a:t> loss_1</a:t>
                </a:r>
                <a:r>
                  <a:rPr lang="en-US" altLang="zh-CN" b="1" dirty="0"/>
                  <a:t>), </a:t>
                </a:r>
                <a:r>
                  <a:rPr lang="en-US" altLang="zh-CN" b="1" dirty="0" err="1"/>
                  <a:t>q_optimizer</a:t>
                </a:r>
                <a:r>
                  <a:rPr lang="en-US" altLang="zh-CN" b="1" dirty="0"/>
                  <a:t>(ac.q1,</a:t>
                </a:r>
                <a:r>
                  <a:rPr lang="en-US" altLang="zh-CN" dirty="0"/>
                  <a:t> loss_2</a:t>
                </a:r>
                <a:r>
                  <a:rPr lang="en-US" altLang="zh-CN" b="1" dirty="0"/>
                  <a:t>)</a:t>
                </a:r>
              </a:p>
              <a:p>
                <a:r>
                  <a:rPr lang="en-US" altLang="zh-CN" b="1" dirty="0" err="1"/>
                  <a:t>Quertion:Y</a:t>
                </a:r>
                <a:r>
                  <a:rPr lang="zh-CN" altLang="en-US" b="1" dirty="0"/>
                  <a:t>是未来的</a:t>
                </a:r>
                <a:r>
                  <a:rPr lang="en-US" altLang="zh-CN" b="1" dirty="0"/>
                  <a:t>s’</a:t>
                </a:r>
                <a:r>
                  <a:rPr lang="zh-CN" altLang="en-US" b="1" dirty="0"/>
                  <a:t>和</a:t>
                </a:r>
                <a:r>
                  <a:rPr lang="en-US" altLang="zh-CN" b="1" dirty="0"/>
                  <a:t>a’,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𝑚𝑎𝑖𝑛</m:t>
                        </m:r>
                      </m:sub>
                    </m:sSub>
                  </m:oMath>
                </a14:m>
                <a:r>
                  <a:rPr lang="zh-CN" altLang="en-US" b="1" dirty="0"/>
                  <a:t>是现在的</a:t>
                </a:r>
                <a:r>
                  <a:rPr lang="en-US" altLang="zh-CN" b="1" dirty="0"/>
                  <a:t>s</a:t>
                </a:r>
                <a:r>
                  <a:rPr lang="zh-CN" altLang="en-US" b="1" dirty="0"/>
                  <a:t>和</a:t>
                </a:r>
                <a:r>
                  <a:rPr lang="en-US" altLang="zh-CN" b="1" dirty="0"/>
                  <a:t>a,</a:t>
                </a:r>
                <a:r>
                  <a:rPr lang="zh-CN" altLang="en-US" b="1" dirty="0"/>
                  <a:t>这样的</a:t>
                </a:r>
                <a:r>
                  <a:rPr lang="en-US" altLang="zh-CN" b="1" dirty="0"/>
                  <a:t>loss</a:t>
                </a:r>
                <a:r>
                  <a:rPr lang="zh-CN" altLang="en-US" b="1" dirty="0"/>
                  <a:t>有价值吗</a:t>
                </a:r>
                <a:r>
                  <a:rPr lang="en-US" altLang="zh-CN" b="1" dirty="0"/>
                  <a:t>?</a:t>
                </a:r>
              </a:p>
              <a:p>
                <a:r>
                  <a:rPr lang="en-US" altLang="zh-CN" b="1" dirty="0" err="1"/>
                  <a:t>Answer:Y</a:t>
                </a:r>
                <a:r>
                  <a:rPr lang="zh-CN" altLang="en-US" b="1" dirty="0"/>
                  <a:t>包含</a:t>
                </a:r>
                <a:r>
                  <a:rPr lang="en-US" altLang="zh-CN" b="1" dirty="0"/>
                  <a:t>s</a:t>
                </a:r>
                <a:r>
                  <a:rPr lang="zh-CN" altLang="en-US" b="1" dirty="0"/>
                  <a:t>和</a:t>
                </a:r>
                <a:r>
                  <a:rPr lang="en-US" altLang="zh-CN" b="1" dirty="0"/>
                  <a:t>a</a:t>
                </a:r>
                <a:r>
                  <a:rPr lang="zh-CN" altLang="en-US" b="1" dirty="0"/>
                  <a:t>的造成的真实</a:t>
                </a:r>
                <a:r>
                  <a:rPr lang="en-US" altLang="zh-CN" b="1" dirty="0"/>
                  <a:t>r,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𝑚𝑎𝑖𝑛</m:t>
                        </m:r>
                      </m:sub>
                    </m:sSub>
                  </m:oMath>
                </a14:m>
                <a:r>
                  <a:rPr lang="zh-CN" altLang="en-US" b="1" dirty="0"/>
                  <a:t>是单纯猜测</a:t>
                </a:r>
                <a:r>
                  <a:rPr lang="en-US" altLang="zh-CN" b="1" dirty="0"/>
                  <a:t>,</a:t>
                </a:r>
                <a:r>
                  <a:rPr lang="zh-CN" altLang="en-US" dirty="0"/>
                  <a:t>用 </a:t>
                </a:r>
                <a:r>
                  <a:rPr lang="zh-CN" altLang="en-US" b="1" dirty="0"/>
                  <a:t>“事实 </a:t>
                </a:r>
                <a:r>
                  <a:rPr lang="en-US" altLang="zh-CN" b="1" dirty="0"/>
                  <a:t>+ </a:t>
                </a:r>
                <a:r>
                  <a:rPr lang="zh-CN" altLang="en-US" b="1" dirty="0"/>
                  <a:t>未来的猜测”</a:t>
                </a:r>
                <a:r>
                  <a:rPr lang="zh-CN" altLang="en-US" dirty="0"/>
                  <a:t> 去修正 </a:t>
                </a:r>
                <a:r>
                  <a:rPr lang="zh-CN" altLang="en-US" b="1" dirty="0"/>
                  <a:t>“现在的纯猜测”</a:t>
                </a:r>
                <a:r>
                  <a:rPr lang="zh-CN" altLang="en-US" dirty="0"/>
                  <a:t>，就是让现在的猜测包含事实成分，从而越来越准。</a:t>
                </a:r>
                <a:endParaRPr lang="en-US" altLang="zh-CN" b="1" dirty="0"/>
              </a:p>
              <a:p>
                <a:r>
                  <a:rPr lang="en-US" altLang="zh-CN" b="1" dirty="0"/>
                  <a:t>3.ac.a Update </a:t>
                </a:r>
                <a:r>
                  <a:rPr lang="zh-CN" altLang="en-US" b="1" dirty="0"/>
                  <a:t>延迟执行</a:t>
                </a:r>
                <a:r>
                  <a:rPr lang="en-US" altLang="zh-CN" b="1" dirty="0"/>
                  <a:t>(</a:t>
                </a:r>
                <a:r>
                  <a:rPr lang="en-US" altLang="zh-CN" b="1" dirty="0" err="1"/>
                  <a:t>ac.q</a:t>
                </a:r>
                <a:r>
                  <a:rPr lang="zh-CN" altLang="en-US" b="1" dirty="0"/>
                  <a:t>执行两次</a:t>
                </a:r>
                <a:r>
                  <a:rPr lang="en-US" altLang="zh-CN" b="1" dirty="0"/>
                  <a:t>,</a:t>
                </a:r>
                <a:r>
                  <a:rPr lang="en-US" altLang="zh-CN" b="1" dirty="0" err="1"/>
                  <a:t>ac.a</a:t>
                </a:r>
                <a:r>
                  <a:rPr lang="zh-CN" altLang="en-US" b="1" dirty="0"/>
                  <a:t>才执行一次</a:t>
                </a:r>
                <a:r>
                  <a:rPr lang="en-US" altLang="zh-CN" b="1" dirty="0"/>
                  <a:t>)</a:t>
                </a:r>
              </a:p>
              <a:p>
                <a:r>
                  <a:rPr lang="en-US" altLang="zh-CN" b="1" dirty="0"/>
                  <a:t> </a:t>
                </a:r>
                <a:r>
                  <a:rPr lang="en-US" altLang="zh-CN" b="1" dirty="0" err="1"/>
                  <a:t>a.ac.a</a:t>
                </a:r>
                <a:r>
                  <a:rPr lang="en-US" altLang="zh-CN" b="1" dirty="0"/>
                  <a:t>(state) -&gt;</a:t>
                </a:r>
                <a:r>
                  <a:rPr lang="en-US" altLang="zh-CN" b="1" dirty="0" err="1"/>
                  <a:t>action_new</a:t>
                </a:r>
                <a:r>
                  <a:rPr lang="en-US" altLang="zh-CN" b="1" dirty="0"/>
                  <a:t> (</a:t>
                </a:r>
                <a:r>
                  <a:rPr lang="zh-CN" altLang="en-US" b="1" dirty="0"/>
                  <a:t>不是来自</a:t>
                </a:r>
                <a:r>
                  <a:rPr lang="en-US" altLang="zh-CN" b="1" dirty="0"/>
                  <a:t>memory</a:t>
                </a:r>
                <a:r>
                  <a:rPr lang="zh-CN" altLang="en-US" b="1" dirty="0"/>
                  <a:t>的</a:t>
                </a:r>
                <a:r>
                  <a:rPr lang="en-US" altLang="zh-CN" b="1" dirty="0"/>
                  <a:t>a)</a:t>
                </a:r>
              </a:p>
              <a:p>
                <a:r>
                  <a:rPr lang="en-US" altLang="zh-CN" b="1" dirty="0"/>
                  <a:t> b.ac.q1(</a:t>
                </a:r>
                <a:r>
                  <a:rPr lang="en-US" altLang="zh-CN" b="1" dirty="0" err="1"/>
                  <a:t>state,action_new</a:t>
                </a:r>
                <a:r>
                  <a:rPr lang="en-US" altLang="zh-CN" b="1" dirty="0"/>
                  <a:t>) -&gt; </a:t>
                </a:r>
                <a:r>
                  <a:rPr lang="en-US" altLang="zh-CN" b="1" dirty="0" err="1"/>
                  <a:t>Q_score</a:t>
                </a:r>
                <a:r>
                  <a:rPr lang="en-US" altLang="zh-CN" b="1" dirty="0"/>
                  <a:t>   </a:t>
                </a:r>
                <a:r>
                  <a:rPr lang="en-US" altLang="zh-CN" b="1" dirty="0" err="1"/>
                  <a:t>ac.q</a:t>
                </a:r>
                <a:r>
                  <a:rPr lang="zh-CN" altLang="en-US" b="1" dirty="0"/>
                  <a:t>只用执行一次</a:t>
                </a:r>
                <a:r>
                  <a:rPr lang="en-US" altLang="zh-CN" b="1" dirty="0"/>
                  <a:t>,</a:t>
                </a:r>
                <a:r>
                  <a:rPr lang="zh-CN" altLang="en-US" b="1" dirty="0"/>
                  <a:t>为了效率</a:t>
                </a:r>
                <a:endParaRPr lang="en-US" altLang="zh-CN" b="1" dirty="0"/>
              </a:p>
              <a:p>
                <a:r>
                  <a:rPr lang="en-US" altLang="zh-CN" b="1" dirty="0"/>
                  <a:t> c. </a:t>
                </a:r>
                <a:r>
                  <a:rPr lang="en-US" altLang="zh-CN" b="1" dirty="0" err="1"/>
                  <a:t>a_optimizer</a:t>
                </a:r>
                <a:r>
                  <a:rPr lang="en-US" altLang="zh-CN" b="1" dirty="0"/>
                  <a:t>(</a:t>
                </a:r>
                <a:r>
                  <a:rPr lang="en-US" altLang="zh-CN" b="1" dirty="0" err="1"/>
                  <a:t>ac.a,loss</a:t>
                </a:r>
                <a:r>
                  <a:rPr lang="en-US" altLang="zh-CN" b="1" dirty="0"/>
                  <a:t>=-mean(</a:t>
                </a:r>
                <a:r>
                  <a:rPr lang="en-US" altLang="zh-CN" b="1" dirty="0" err="1"/>
                  <a:t>Q_scores</a:t>
                </a:r>
                <a:r>
                  <a:rPr lang="en-US" altLang="zh-CN" b="1" dirty="0"/>
                  <a:t>)  ) </a:t>
                </a:r>
                <a:r>
                  <a:rPr lang="zh-CN" altLang="en-US" b="1" dirty="0"/>
                  <a:t>使得</a:t>
                </a:r>
                <a:r>
                  <a:rPr lang="en-US" altLang="zh-CN" b="1" dirty="0" err="1"/>
                  <a:t>Q_score</a:t>
                </a:r>
                <a:r>
                  <a:rPr lang="zh-CN" altLang="en-US" b="1" dirty="0"/>
                  <a:t>更大</a:t>
                </a:r>
                <a:endParaRPr lang="en-US" altLang="zh-CN" b="1" dirty="0"/>
              </a:p>
              <a:p>
                <a:r>
                  <a:rPr lang="en-US" altLang="zh-CN" b="1" dirty="0"/>
                  <a:t>4.</a:t>
                </a:r>
                <a:r>
                  <a:rPr lang="zh-CN" altLang="en-US" b="1" dirty="0"/>
                  <a:t>同步</a:t>
                </a:r>
                <a:r>
                  <a:rPr lang="en-US" altLang="zh-CN" b="1" dirty="0"/>
                  <a:t>Soft Update</a:t>
                </a:r>
              </a:p>
              <a:p>
                <a:r>
                  <a:rPr lang="en-US" altLang="zh-CN" b="1" dirty="0"/>
                  <a:t> </a:t>
                </a:r>
                <a:r>
                  <a:rPr lang="en-US" altLang="zh-CN" b="1" dirty="0" err="1"/>
                  <a:t>ac_tar.parameters</a:t>
                </a:r>
                <a:r>
                  <a:rPr lang="en-US" altLang="zh-CN" b="1" dirty="0"/>
                  <a:t> = (1-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1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zh-CN" b="1" dirty="0"/>
                  <a:t>)*ac</a:t>
                </a:r>
                <a:r>
                  <a:rPr lang="en-US" altLang="zh-CN" b="1" dirty="0" err="1"/>
                  <a:t>_tar.parameters</a:t>
                </a:r>
                <a:r>
                  <a:rPr lang="en-US" altLang="zh-CN" b="1" dirty="0"/>
                  <a:t>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1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*</m:t>
                    </m:r>
                  </m:oMath>
                </a14:m>
                <a:r>
                  <a:rPr lang="en-US" altLang="zh-CN" b="1" dirty="0" err="1"/>
                  <a:t>ac.parameters</a:t>
                </a:r>
                <a:endParaRPr lang="en-US" altLang="zh-CN" b="0" dirty="0"/>
              </a:p>
              <a:p>
                <a:endParaRPr lang="en-US" altLang="zh-CN" b="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7156614-1B7C-CB91-57B0-ED7467D1A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67" y="244312"/>
                <a:ext cx="8997243" cy="6251711"/>
              </a:xfrm>
              <a:prstGeom prst="rect">
                <a:avLst/>
              </a:prstGeom>
              <a:blipFill>
                <a:blip r:embed="rId2"/>
                <a:stretch>
                  <a:fillRect l="-610" t="-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82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603</Words>
  <Application>Microsoft Office PowerPoint</Application>
  <PresentationFormat>宽屏</PresentationFormat>
  <Paragraphs>40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Inter</vt:lpstr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 Deng</dc:creator>
  <cp:lastModifiedBy>Te Deng</cp:lastModifiedBy>
  <cp:revision>7</cp:revision>
  <dcterms:created xsi:type="dcterms:W3CDTF">2025-11-22T14:30:53Z</dcterms:created>
  <dcterms:modified xsi:type="dcterms:W3CDTF">2025-11-22T15:53:49Z</dcterms:modified>
</cp:coreProperties>
</file>